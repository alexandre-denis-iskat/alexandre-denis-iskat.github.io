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8" r:id="rId4"/>
    <p:sldId id="259" r:id="rId5"/>
    <p:sldId id="263" r:id="rId6"/>
    <p:sldId id="261" r:id="rId7"/>
    <p:sldId id="262" r:id="rId8"/>
    <p:sldId id="264" r:id="rId9"/>
    <p:sldId id="265" r:id="rId10"/>
    <p:sldId id="267"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8" autoAdjust="0"/>
    <p:restoredTop sz="94660"/>
  </p:normalViewPr>
  <p:slideViewPr>
    <p:cSldViewPr snapToGrid="0">
      <p:cViewPr varScale="1">
        <p:scale>
          <a:sx n="96" d="100"/>
          <a:sy n="96" d="100"/>
        </p:scale>
        <p:origin x="108" y="600"/>
      </p:cViewPr>
      <p:guideLst/>
    </p:cSldViewPr>
  </p:slideViewPr>
  <p:notesTextViewPr>
    <p:cViewPr>
      <p:scale>
        <a:sx n="1" d="1"/>
        <a:sy n="1" d="1"/>
      </p:scale>
      <p:origin x="0" y="0"/>
    </p:cViewPr>
  </p:notesTextViewPr>
  <p:sorterViewPr>
    <p:cViewPr>
      <p:scale>
        <a:sx n="100" d="100"/>
        <a:sy n="100" d="100"/>
      </p:scale>
      <p:origin x="0" y="-20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287EC5-6439-0E20-C483-F8DD9F1A6A3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2A3584FE-1AC1-1D32-A400-347CE9950F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F0A2E71-DE50-218B-4936-75F367FB37D6}"/>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5" name="Espace réservé du pied de page 4">
            <a:extLst>
              <a:ext uri="{FF2B5EF4-FFF2-40B4-BE49-F238E27FC236}">
                <a16:creationId xmlns:a16="http://schemas.microsoft.com/office/drawing/2014/main" id="{EC7E1A90-A261-6DE1-FB90-86720AE15FE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8142F4-7001-A881-9B2C-DC2651377FC1}"/>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984377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57B698-0852-4130-37EA-9EBA0A1955E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C35544C-BF21-AC84-B2B2-25E49BCB1B4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637FF4F-E22B-10FD-83AE-EEAC5EFC08E1}"/>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5" name="Espace réservé du pied de page 4">
            <a:extLst>
              <a:ext uri="{FF2B5EF4-FFF2-40B4-BE49-F238E27FC236}">
                <a16:creationId xmlns:a16="http://schemas.microsoft.com/office/drawing/2014/main" id="{8C0F62B0-D75B-327F-FB51-8028AE7E2CF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2072D82-E0F5-58C4-0396-B711AB6D5CE8}"/>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17496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38E680-8977-2DF0-CB01-AD929BD4BF8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EB066DD-04C4-776B-D758-65641B81A0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F14E62C-1B1E-FF4B-66CC-492420E6F5F6}"/>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5" name="Espace réservé du pied de page 4">
            <a:extLst>
              <a:ext uri="{FF2B5EF4-FFF2-40B4-BE49-F238E27FC236}">
                <a16:creationId xmlns:a16="http://schemas.microsoft.com/office/drawing/2014/main" id="{4A1E303A-B149-9BD6-FA4E-1BE0CD67D76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0AA6D5E-9BA8-02F6-D512-28659A30C39E}"/>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625517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0414FB-3A97-7827-DC8E-95F53F28B23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46BA68F-7BA9-C50E-5C18-F329D3AD655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03B2684-BCB0-F05C-A86C-A74051526CB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E13D807-45BC-0E32-F4DB-E340E68DDF65}"/>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6" name="Espace réservé du pied de page 5">
            <a:extLst>
              <a:ext uri="{FF2B5EF4-FFF2-40B4-BE49-F238E27FC236}">
                <a16:creationId xmlns:a16="http://schemas.microsoft.com/office/drawing/2014/main" id="{F88B2A3F-202F-4DCA-72B1-5C9D9734141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E5D6ACE-A13A-62A1-9B88-1464FE98D2BD}"/>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3219469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B33A3D-6F1A-37C7-1C89-47EC199AA78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614AEAD-F835-AA07-CA83-5B61CD5133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7D28131-3B11-542D-8234-883EDAB440A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0A35D99-08AB-88A3-6D2A-954E84C63C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7827607-E408-7167-09A3-A96C8487CB1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1369420-936F-67F9-4C81-3DD27F0BB763}"/>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8" name="Espace réservé du pied de page 7">
            <a:extLst>
              <a:ext uri="{FF2B5EF4-FFF2-40B4-BE49-F238E27FC236}">
                <a16:creationId xmlns:a16="http://schemas.microsoft.com/office/drawing/2014/main" id="{3C35A6BB-9B5F-5555-982B-DF7088CAF15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A6A6C04-B3D8-DE8B-52FC-4ED3003C023A}"/>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198406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C36760-0100-DC2E-2528-E72335EF378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C8BC27C-9951-4C44-41FA-C4666BC910B9}"/>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4" name="Espace réservé du pied de page 3">
            <a:extLst>
              <a:ext uri="{FF2B5EF4-FFF2-40B4-BE49-F238E27FC236}">
                <a16:creationId xmlns:a16="http://schemas.microsoft.com/office/drawing/2014/main" id="{24F6CE34-58F2-CF22-1490-CD704E06314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4348170-17DA-4B0B-EEC7-A93D2A2778FD}"/>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278819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4CD6D5F-95B6-17C9-20B9-8135CE9C97CA}"/>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3" name="Espace réservé du pied de page 2">
            <a:extLst>
              <a:ext uri="{FF2B5EF4-FFF2-40B4-BE49-F238E27FC236}">
                <a16:creationId xmlns:a16="http://schemas.microsoft.com/office/drawing/2014/main" id="{09124791-C2D6-4D49-8F09-F5726EE49AF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CF27FFB-375B-AECC-FD2C-B2FA10ACCAB7}"/>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3839186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84C5F3-84E3-ACCF-C0FD-3588752072E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4621428-3D84-FC04-4198-C00AA00556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E59F234-8254-5554-0D6C-D069EE40D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4DAEC29-EED6-516F-C903-6B6119BF9119}"/>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6" name="Espace réservé du pied de page 5">
            <a:extLst>
              <a:ext uri="{FF2B5EF4-FFF2-40B4-BE49-F238E27FC236}">
                <a16:creationId xmlns:a16="http://schemas.microsoft.com/office/drawing/2014/main" id="{303522BC-B068-B602-248B-FC4F644F736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9F43C5-9D3C-31B4-F0F9-9CC2097ECD79}"/>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1601199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6A57EC-4A79-FD2A-5B2B-0B1CE6E6AE8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D2FCEC0-ED98-1987-460F-BB9D852957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099E3B3-1D6A-ED17-3CD2-7D304F53E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C596456-95CD-F6A7-BCDC-D98395A939E8}"/>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6" name="Espace réservé du pied de page 5">
            <a:extLst>
              <a:ext uri="{FF2B5EF4-FFF2-40B4-BE49-F238E27FC236}">
                <a16:creationId xmlns:a16="http://schemas.microsoft.com/office/drawing/2014/main" id="{8EF13B39-FB88-2E31-078E-E87797125E4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DE14B89-FCD0-1A20-1C80-C13EF483C61D}"/>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1037513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207AE9-B9DF-F935-51D2-C5F15FA55AF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5BF74BB-F855-FB29-4E20-A633C7E3DF4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334CE59-B494-5238-7BCA-1D2C3C6D7939}"/>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5" name="Espace réservé du pied de page 4">
            <a:extLst>
              <a:ext uri="{FF2B5EF4-FFF2-40B4-BE49-F238E27FC236}">
                <a16:creationId xmlns:a16="http://schemas.microsoft.com/office/drawing/2014/main" id="{6F4839C8-4CF7-02DE-C256-A64F01CD57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4C47595-5415-DEC5-1FCA-00DFEB725CA9}"/>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457324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A5C0862-19CD-9B1D-75FF-8543A080918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B2E393A-DD1D-2713-A964-EBC32CDC762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DE1BA26-9C3C-C9A1-213D-A5E8622095AD}"/>
              </a:ext>
            </a:extLst>
          </p:cNvPr>
          <p:cNvSpPr>
            <a:spLocks noGrp="1"/>
          </p:cNvSpPr>
          <p:nvPr>
            <p:ph type="dt" sz="half" idx="10"/>
          </p:nvPr>
        </p:nvSpPr>
        <p:spPr/>
        <p:txBody>
          <a:bodyPr/>
          <a:lstStyle/>
          <a:p>
            <a:fld id="{7134A275-CAE7-4F9D-8657-6051F166E2E8}" type="datetimeFigureOut">
              <a:rPr lang="fr-FR" smtClean="0"/>
              <a:t>01/05/2023</a:t>
            </a:fld>
            <a:endParaRPr lang="fr-FR"/>
          </a:p>
        </p:txBody>
      </p:sp>
      <p:sp>
        <p:nvSpPr>
          <p:cNvPr id="5" name="Espace réservé du pied de page 4">
            <a:extLst>
              <a:ext uri="{FF2B5EF4-FFF2-40B4-BE49-F238E27FC236}">
                <a16:creationId xmlns:a16="http://schemas.microsoft.com/office/drawing/2014/main" id="{01025BD1-5B2A-88E1-4AEA-A2961673DD9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6657D6-420C-7977-918E-D63858B05420}"/>
              </a:ext>
            </a:extLst>
          </p:cNvPr>
          <p:cNvSpPr>
            <a:spLocks noGrp="1"/>
          </p:cNvSpPr>
          <p:nvPr>
            <p:ph type="sldNum" sz="quarter" idx="12"/>
          </p:nvPr>
        </p:nvSpPr>
        <p:spPr/>
        <p:txBody>
          <a:bodyPr/>
          <a:lstStyle/>
          <a:p>
            <a:fld id="{1775A48D-2795-4DEB-9950-E1ACA36E8C07}" type="slidenum">
              <a:rPr lang="fr-FR" smtClean="0"/>
              <a:t>‹N°›</a:t>
            </a:fld>
            <a:endParaRPr lang="fr-FR"/>
          </a:p>
        </p:txBody>
      </p:sp>
    </p:spTree>
    <p:extLst>
      <p:ext uri="{BB962C8B-B14F-4D97-AF65-F5344CB8AC3E}">
        <p14:creationId xmlns:p14="http://schemas.microsoft.com/office/powerpoint/2010/main" val="394733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3B5A26B-9F6F-452A-E388-D52986C9AF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499B597-4D6C-A161-D0D2-9655121E96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333C54D-9607-A60B-4695-13D45517B1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34A275-CAE7-4F9D-8657-6051F166E2E8}" type="datetimeFigureOut">
              <a:rPr lang="fr-FR" smtClean="0"/>
              <a:t>01/05/2023</a:t>
            </a:fld>
            <a:endParaRPr lang="fr-FR"/>
          </a:p>
        </p:txBody>
      </p:sp>
      <p:sp>
        <p:nvSpPr>
          <p:cNvPr id="5" name="Espace réservé du pied de page 4">
            <a:extLst>
              <a:ext uri="{FF2B5EF4-FFF2-40B4-BE49-F238E27FC236}">
                <a16:creationId xmlns:a16="http://schemas.microsoft.com/office/drawing/2014/main" id="{02D07381-4788-6E89-76C1-E853C74F5C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CFEA6F0-53C9-708A-AE22-3EF9C6593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75A48D-2795-4DEB-9950-E1ACA36E8C07}" type="slidenum">
              <a:rPr lang="fr-FR" smtClean="0"/>
              <a:t>‹N°›</a:t>
            </a:fld>
            <a:endParaRPr lang="fr-FR"/>
          </a:p>
        </p:txBody>
      </p:sp>
    </p:spTree>
    <p:extLst>
      <p:ext uri="{BB962C8B-B14F-4D97-AF65-F5344CB8AC3E}">
        <p14:creationId xmlns:p14="http://schemas.microsoft.com/office/powerpoint/2010/main" val="126601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3">
            <a:extLst>
              <a:ext uri="{FF2B5EF4-FFF2-40B4-BE49-F238E27FC236}">
                <a16:creationId xmlns:a16="http://schemas.microsoft.com/office/drawing/2014/main" id="{4CBC69AF-AE9D-43C7-A183-244646418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descr="Une image contenant texte&#10;&#10;Description générée automatiquement">
            <a:extLst>
              <a:ext uri="{FF2B5EF4-FFF2-40B4-BE49-F238E27FC236}">
                <a16:creationId xmlns:a16="http://schemas.microsoft.com/office/drawing/2014/main" id="{A33E53AF-415E-5948-FF66-91EFBD3B3653}"/>
              </a:ext>
            </a:extLst>
          </p:cNvPr>
          <p:cNvPicPr>
            <a:picLocks noChangeAspect="1"/>
          </p:cNvPicPr>
          <p:nvPr/>
        </p:nvPicPr>
        <p:blipFill rotWithShape="1">
          <a:blip r:embed="rId2">
            <a:extLst>
              <a:ext uri="{28A0092B-C50C-407E-A947-70E740481C1C}">
                <a14:useLocalDpi xmlns:a14="http://schemas.microsoft.com/office/drawing/2010/main" val="0"/>
              </a:ext>
            </a:extLst>
          </a:blip>
          <a:srcRect l="4527" r="4467"/>
          <a:stretch/>
        </p:blipFill>
        <p:spPr>
          <a:xfrm>
            <a:off x="20" y="10"/>
            <a:ext cx="4977364" cy="6857990"/>
          </a:xfrm>
          <a:prstGeom prst="rect">
            <a:avLst/>
          </a:prstGeom>
        </p:spPr>
      </p:pic>
      <p:pic>
        <p:nvPicPr>
          <p:cNvPr id="5" name="Espace réservé du contenu 4" descr="Une image contenant texte, carte de visite, graphique vectoriel&#10;&#10;Description générée automatiquement">
            <a:extLst>
              <a:ext uri="{FF2B5EF4-FFF2-40B4-BE49-F238E27FC236}">
                <a16:creationId xmlns:a16="http://schemas.microsoft.com/office/drawing/2014/main" id="{E6149F0F-0360-535E-5C89-D2C4E8BD12A1}"/>
              </a:ext>
            </a:extLst>
          </p:cNvPr>
          <p:cNvPicPr>
            <a:picLocks noChangeAspect="1"/>
          </p:cNvPicPr>
          <p:nvPr/>
        </p:nvPicPr>
        <p:blipFill rotWithShape="1">
          <a:blip r:embed="rId3">
            <a:extLst>
              <a:ext uri="{28A0092B-C50C-407E-A947-70E740481C1C}">
                <a14:useLocalDpi xmlns:a14="http://schemas.microsoft.com/office/drawing/2010/main" val="0"/>
              </a:ext>
            </a:extLst>
          </a:blip>
          <a:srcRect r="3" b="4946"/>
          <a:stretch/>
        </p:blipFill>
        <p:spPr>
          <a:xfrm>
            <a:off x="4977384" y="10"/>
            <a:ext cx="7214616" cy="6857990"/>
          </a:xfrm>
          <a:prstGeom prst="rect">
            <a:avLst/>
          </a:prstGeom>
        </p:spPr>
      </p:pic>
      <p:sp>
        <p:nvSpPr>
          <p:cNvPr id="20" name="Rectangle 15">
            <a:extLst>
              <a:ext uri="{FF2B5EF4-FFF2-40B4-BE49-F238E27FC236}">
                <a16:creationId xmlns:a16="http://schemas.microsoft.com/office/drawing/2014/main" id="{BE64232A-D912-4882-BF58-104918115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218905"/>
            <a:ext cx="5625863" cy="2089317"/>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Rounded Corners 17">
            <a:extLst>
              <a:ext uri="{FF2B5EF4-FFF2-40B4-BE49-F238E27FC236}">
                <a16:creationId xmlns:a16="http://schemas.microsoft.com/office/drawing/2014/main" id="{E8E4E9D8-6D9C-4646-83A2-11844D84E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5574" y="3876005"/>
            <a:ext cx="484822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re 1">
            <a:extLst>
              <a:ext uri="{FF2B5EF4-FFF2-40B4-BE49-F238E27FC236}">
                <a16:creationId xmlns:a16="http://schemas.microsoft.com/office/drawing/2014/main" id="{074AC4FA-346E-D4DE-039A-E583FE287C27}"/>
              </a:ext>
            </a:extLst>
          </p:cNvPr>
          <p:cNvSpPr>
            <a:spLocks noGrp="1"/>
          </p:cNvSpPr>
          <p:nvPr>
            <p:ph type="title"/>
          </p:nvPr>
        </p:nvSpPr>
        <p:spPr>
          <a:xfrm>
            <a:off x="6505575" y="3949157"/>
            <a:ext cx="4848224" cy="539496"/>
          </a:xfrm>
        </p:spPr>
        <p:txBody>
          <a:bodyPr>
            <a:normAutofit fontScale="90000"/>
          </a:bodyPr>
          <a:lstStyle/>
          <a:p>
            <a:pPr algn="ctr"/>
            <a:r>
              <a:rPr lang="fr-FR" sz="2800" b="1" dirty="0">
                <a:solidFill>
                  <a:schemeClr val="bg1"/>
                </a:solidFill>
                <a:latin typeface="Trade Gothic Next Heavy" panose="020B0903040303020004" pitchFamily="34" charset="0"/>
              </a:rPr>
              <a:t>Atelier professionnel 2-BTS SIO</a:t>
            </a:r>
          </a:p>
        </p:txBody>
      </p:sp>
      <p:sp>
        <p:nvSpPr>
          <p:cNvPr id="21" name="Content Placeholder 10">
            <a:extLst>
              <a:ext uri="{FF2B5EF4-FFF2-40B4-BE49-F238E27FC236}">
                <a16:creationId xmlns:a16="http://schemas.microsoft.com/office/drawing/2014/main" id="{B335D9DA-216D-9C33-A8A0-C3620EAD6DF7}"/>
              </a:ext>
            </a:extLst>
          </p:cNvPr>
          <p:cNvSpPr>
            <a:spLocks noGrp="1"/>
          </p:cNvSpPr>
          <p:nvPr>
            <p:ph idx="1"/>
          </p:nvPr>
        </p:nvSpPr>
        <p:spPr>
          <a:xfrm>
            <a:off x="6431138" y="4697298"/>
            <a:ext cx="5040034" cy="1435608"/>
          </a:xfrm>
        </p:spPr>
        <p:txBody>
          <a:bodyPr anchor="ctr">
            <a:normAutofit fontScale="92500" lnSpcReduction="20000"/>
          </a:bodyPr>
          <a:lstStyle/>
          <a:p>
            <a:pPr marL="0" indent="0" algn="ctr">
              <a:buNone/>
            </a:pPr>
            <a:r>
              <a:rPr lang="en-US" sz="2200" b="1" dirty="0" err="1">
                <a:latin typeface="Trebuchet MS" panose="020B0603020202020204" pitchFamily="34" charset="0"/>
              </a:rPr>
              <a:t>Projet</a:t>
            </a:r>
            <a:r>
              <a:rPr lang="en-US" sz="2200" b="1" dirty="0">
                <a:latin typeface="Trebuchet MS" panose="020B0603020202020204" pitchFamily="34" charset="0"/>
              </a:rPr>
              <a:t> M2L : VLAN + IP </a:t>
            </a:r>
            <a:r>
              <a:rPr lang="en-US" sz="2200" b="1" dirty="0" err="1">
                <a:latin typeface="Trebuchet MS" panose="020B0603020202020204" pitchFamily="34" charset="0"/>
              </a:rPr>
              <a:t>Statique</a:t>
            </a:r>
            <a:endParaRPr lang="en-US" sz="2200" b="1" dirty="0">
              <a:latin typeface="Trebuchet MS" panose="020B0603020202020204" pitchFamily="34" charset="0"/>
            </a:endParaRPr>
          </a:p>
          <a:p>
            <a:r>
              <a:rPr lang="en-US" sz="1700" b="1" i="1" dirty="0">
                <a:latin typeface="Trebuchet MS" panose="020B0603020202020204" pitchFamily="34" charset="0"/>
              </a:rPr>
              <a:t>Alexandre Denis</a:t>
            </a:r>
          </a:p>
          <a:p>
            <a:r>
              <a:rPr lang="en-US" sz="1700" b="1" i="1" dirty="0">
                <a:latin typeface="Trebuchet MS" panose="020B0603020202020204" pitchFamily="34" charset="0"/>
              </a:rPr>
              <a:t>Emeline Villemy</a:t>
            </a:r>
          </a:p>
          <a:p>
            <a:r>
              <a:rPr lang="en-US" sz="1700" b="1" i="1" dirty="0" err="1">
                <a:latin typeface="Trebuchet MS" panose="020B0603020202020204" pitchFamily="34" charset="0"/>
              </a:rPr>
              <a:t>Régis</a:t>
            </a:r>
            <a:r>
              <a:rPr lang="en-US" sz="1700" b="1" i="1" dirty="0">
                <a:latin typeface="Trebuchet MS" panose="020B0603020202020204" pitchFamily="34" charset="0"/>
              </a:rPr>
              <a:t> </a:t>
            </a:r>
            <a:r>
              <a:rPr lang="en-US" sz="1700" b="1" i="1" dirty="0" err="1">
                <a:latin typeface="Trebuchet MS" panose="020B0603020202020204" pitchFamily="34" charset="0"/>
              </a:rPr>
              <a:t>Dekien</a:t>
            </a:r>
            <a:br>
              <a:rPr lang="en-US" sz="1700" dirty="0"/>
            </a:br>
            <a:endParaRPr lang="en-US" sz="1700" dirty="0"/>
          </a:p>
        </p:txBody>
      </p:sp>
    </p:spTree>
    <p:extLst>
      <p:ext uri="{BB962C8B-B14F-4D97-AF65-F5344CB8AC3E}">
        <p14:creationId xmlns:p14="http://schemas.microsoft.com/office/powerpoint/2010/main" val="2313797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0AF4A44-8BCD-F100-F6D0-E8EEA8E22CB2}"/>
              </a:ext>
            </a:extLst>
          </p:cNvPr>
          <p:cNvSpPr>
            <a:spLocks noGrp="1"/>
          </p:cNvSpPr>
          <p:nvPr>
            <p:ph type="title"/>
          </p:nvPr>
        </p:nvSpPr>
        <p:spPr>
          <a:xfrm>
            <a:off x="640080" y="325369"/>
            <a:ext cx="4368602" cy="1956841"/>
          </a:xfrm>
        </p:spPr>
        <p:txBody>
          <a:bodyPr anchor="b">
            <a:normAutofit/>
          </a:bodyPr>
          <a:lstStyle/>
          <a:p>
            <a:r>
              <a:rPr lang="fr-FR" sz="5400" dirty="0">
                <a:latin typeface="Trade Gothic Next Heavy" panose="020B0903040303020004" pitchFamily="34" charset="0"/>
                <a:cs typeface="Aharoni" panose="02010803020104030203" pitchFamily="2" charset="-79"/>
              </a:rPr>
              <a:t>Sommaire :</a:t>
            </a:r>
          </a:p>
        </p:txBody>
      </p:sp>
      <p:sp>
        <p:nvSpPr>
          <p:cNvPr id="2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49A67A40-99C5-563B-6B66-92552F5A8481}"/>
              </a:ext>
            </a:extLst>
          </p:cNvPr>
          <p:cNvSpPr>
            <a:spLocks noGrp="1"/>
          </p:cNvSpPr>
          <p:nvPr>
            <p:ph idx="1"/>
          </p:nvPr>
        </p:nvSpPr>
        <p:spPr>
          <a:xfrm>
            <a:off x="640080" y="2872899"/>
            <a:ext cx="4559881" cy="3320668"/>
          </a:xfrm>
        </p:spPr>
        <p:txBody>
          <a:bodyPr>
            <a:normAutofit/>
          </a:bodyPr>
          <a:lstStyle/>
          <a:p>
            <a:pPr marL="0" indent="0">
              <a:buNone/>
            </a:pPr>
            <a:r>
              <a:rPr lang="fr-FR" sz="2200" b="1" dirty="0">
                <a:latin typeface="Trebuchet MS" panose="020B0603020202020204" pitchFamily="34" charset="0"/>
                <a:cs typeface="Aharoni" panose="02010803020104030203" pitchFamily="2" charset="-79"/>
              </a:rPr>
              <a:t>I- Contexte</a:t>
            </a:r>
          </a:p>
          <a:p>
            <a:pPr marL="0" indent="0">
              <a:buNone/>
            </a:pPr>
            <a:r>
              <a:rPr lang="fr-FR" sz="2200" b="1" dirty="0">
                <a:latin typeface="Trebuchet MS" panose="020B0603020202020204" pitchFamily="34" charset="0"/>
                <a:cs typeface="Aharoni" panose="02010803020104030203" pitchFamily="2" charset="-79"/>
              </a:rPr>
              <a:t>II- Présentation de l’infrastructure d’M2L</a:t>
            </a:r>
            <a:br>
              <a:rPr lang="fr-FR" sz="2200" b="1" dirty="0">
                <a:latin typeface="Trebuchet MS" panose="020B0603020202020204" pitchFamily="34" charset="0"/>
                <a:cs typeface="Aharoni" panose="02010803020104030203" pitchFamily="2" charset="-79"/>
              </a:rPr>
            </a:br>
            <a:r>
              <a:rPr lang="fr-FR" sz="2200" b="1" dirty="0">
                <a:latin typeface="Trebuchet MS" panose="020B0603020202020204" pitchFamily="34" charset="0"/>
                <a:cs typeface="Aharoni" panose="02010803020104030203" pitchFamily="2" charset="-79"/>
              </a:rPr>
              <a:t>IV- 1</a:t>
            </a:r>
            <a:r>
              <a:rPr lang="fr-FR" sz="2200" b="1" baseline="30000" dirty="0">
                <a:latin typeface="Trebuchet MS" panose="020B0603020202020204" pitchFamily="34" charset="0"/>
                <a:cs typeface="Aharoni" panose="02010803020104030203" pitchFamily="2" charset="-79"/>
              </a:rPr>
              <a:t>ère</a:t>
            </a:r>
            <a:r>
              <a:rPr lang="fr-FR" sz="2200" b="1" dirty="0">
                <a:latin typeface="Trebuchet MS" panose="020B0603020202020204" pitchFamily="34" charset="0"/>
                <a:cs typeface="Aharoni" panose="02010803020104030203" pitchFamily="2" charset="-79"/>
              </a:rPr>
              <a:t> solution d’infrastructure</a:t>
            </a:r>
            <a:br>
              <a:rPr lang="fr-FR" sz="2200" b="1" dirty="0">
                <a:latin typeface="Trebuchet MS" panose="020B0603020202020204" pitchFamily="34" charset="0"/>
                <a:cs typeface="Aharoni" panose="02010803020104030203" pitchFamily="2" charset="-79"/>
              </a:rPr>
            </a:br>
            <a:r>
              <a:rPr lang="fr-FR" sz="2200" b="1" dirty="0">
                <a:latin typeface="Trebuchet MS" panose="020B0603020202020204" pitchFamily="34" charset="0"/>
                <a:cs typeface="Aharoni" panose="02010803020104030203" pitchFamily="2" charset="-79"/>
              </a:rPr>
              <a:t>V-2</a:t>
            </a:r>
            <a:r>
              <a:rPr lang="fr-FR" sz="2200" b="1" baseline="30000" dirty="0">
                <a:latin typeface="Trebuchet MS" panose="020B0603020202020204" pitchFamily="34" charset="0"/>
                <a:cs typeface="Aharoni" panose="02010803020104030203" pitchFamily="2" charset="-79"/>
              </a:rPr>
              <a:t>ème</a:t>
            </a:r>
            <a:r>
              <a:rPr lang="fr-FR" sz="2200" b="1" dirty="0">
                <a:latin typeface="Trebuchet MS" panose="020B0603020202020204" pitchFamily="34" charset="0"/>
                <a:cs typeface="Aharoni" panose="02010803020104030203" pitchFamily="2" charset="-79"/>
              </a:rPr>
              <a:t> solution d’infrastructure </a:t>
            </a:r>
          </a:p>
          <a:p>
            <a:pPr marL="0" indent="0">
              <a:buNone/>
            </a:pPr>
            <a:endParaRPr lang="fr-FR" sz="2200" dirty="0">
              <a:latin typeface="Berlin Sans FB" panose="020E0602020502020306" pitchFamily="34" charset="0"/>
              <a:cs typeface="Aharoni" panose="02010803020104030203" pitchFamily="2" charset="-79"/>
            </a:endParaRPr>
          </a:p>
        </p:txBody>
      </p:sp>
      <p:pic>
        <p:nvPicPr>
          <p:cNvPr id="5" name="Picture 4">
            <a:extLst>
              <a:ext uri="{FF2B5EF4-FFF2-40B4-BE49-F238E27FC236}">
                <a16:creationId xmlns:a16="http://schemas.microsoft.com/office/drawing/2014/main" id="{07284CE1-534D-315D-56DF-09AD7BA5CB5B}"/>
              </a:ext>
            </a:extLst>
          </p:cNvPr>
          <p:cNvPicPr>
            <a:picLocks noChangeAspect="1"/>
          </p:cNvPicPr>
          <p:nvPr/>
        </p:nvPicPr>
        <p:blipFill rotWithShape="1">
          <a:blip r:embed="rId2">
            <a:extLst>
              <a:ext uri="{28A0092B-C50C-407E-A947-70E740481C1C}">
                <a14:useLocalDpi xmlns:a14="http://schemas.microsoft.com/office/drawing/2010/main" val="0"/>
              </a:ext>
            </a:extLst>
          </a:blip>
          <a:srcRect b="30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984923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32F2E2D-96B2-6D0D-5F58-59F48812A1BC}"/>
              </a:ext>
            </a:extLst>
          </p:cNvPr>
          <p:cNvSpPr>
            <a:spLocks noGrp="1"/>
          </p:cNvSpPr>
          <p:nvPr>
            <p:ph type="title"/>
          </p:nvPr>
        </p:nvSpPr>
        <p:spPr>
          <a:xfrm>
            <a:off x="572493" y="238539"/>
            <a:ext cx="11018520" cy="1434415"/>
          </a:xfrm>
        </p:spPr>
        <p:txBody>
          <a:bodyPr anchor="b">
            <a:normAutofit/>
          </a:bodyPr>
          <a:lstStyle/>
          <a:p>
            <a:r>
              <a:rPr lang="fr-FR" sz="5400" dirty="0">
                <a:latin typeface="Trade Gothic Next Heavy" panose="020B0604020202020204" pitchFamily="34" charset="0"/>
                <a:cs typeface="Aharoni" panose="02010803020104030203" pitchFamily="2" charset="-79"/>
              </a:rPr>
              <a:t>I- Contexte</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A90C4D3B-C905-719B-EDE3-68D87637D3DC}"/>
              </a:ext>
            </a:extLst>
          </p:cNvPr>
          <p:cNvSpPr>
            <a:spLocks noGrp="1"/>
          </p:cNvSpPr>
          <p:nvPr>
            <p:ph idx="1"/>
          </p:nvPr>
        </p:nvSpPr>
        <p:spPr>
          <a:xfrm>
            <a:off x="572493" y="2071316"/>
            <a:ext cx="6713552" cy="4119172"/>
          </a:xfrm>
        </p:spPr>
        <p:txBody>
          <a:bodyPr anchor="t">
            <a:normAutofit fontScale="92500" lnSpcReduction="10000"/>
          </a:bodyPr>
          <a:lstStyle/>
          <a:p>
            <a:pPr marL="0" indent="0">
              <a:buNone/>
            </a:pPr>
            <a:r>
              <a:rPr lang="fr-FR" sz="1600" dirty="0">
                <a:effectLst/>
                <a:latin typeface="Trebuchet MS" panose="020B0603020202020204" pitchFamily="34" charset="0"/>
                <a:ea typeface="Times New Roman" panose="02020603050405020304" pitchFamily="18" charset="0"/>
                <a:cs typeface="Aharoni" panose="02010803020104030203" pitchFamily="2" charset="-79"/>
              </a:rPr>
              <a:t>	</a:t>
            </a:r>
          </a:p>
          <a:p>
            <a:pPr marL="0" indent="0">
              <a:buNone/>
            </a:pPr>
            <a:r>
              <a:rPr lang="fr-FR" sz="1600" dirty="0">
                <a:effectLst/>
                <a:latin typeface="Trebuchet MS" panose="020B0603020202020204" pitchFamily="34" charset="0"/>
                <a:ea typeface="Times New Roman" panose="02020603050405020304" pitchFamily="18" charset="0"/>
                <a:cs typeface="Aharoni" panose="02010803020104030203" pitchFamily="2" charset="-79"/>
              </a:rPr>
              <a:t>La Maison des Ligues de Lorraine (M2L) a pour mission de fournir des espaces et des services aux différentes ligues sportives régionales et à d’autres structures hébergées.</a:t>
            </a:r>
            <a:endParaRPr lang="fr-FR" sz="1600" dirty="0">
              <a:latin typeface="Trebuchet MS" panose="020B0603020202020204" pitchFamily="34" charset="0"/>
              <a:ea typeface="Times New Roman" panose="02020603050405020304" pitchFamily="18" charset="0"/>
              <a:cs typeface="Aharoni" panose="02010803020104030203" pitchFamily="2" charset="-79"/>
            </a:endParaRPr>
          </a:p>
          <a:p>
            <a:pPr marL="0" indent="0">
              <a:buNone/>
            </a:pPr>
            <a:r>
              <a:rPr lang="fr-FR" sz="1600" dirty="0">
                <a:effectLst/>
                <a:latin typeface="Trebuchet MS" panose="020B0603020202020204" pitchFamily="34" charset="0"/>
                <a:ea typeface="Times New Roman" panose="02020603050405020304" pitchFamily="18" charset="0"/>
                <a:cs typeface="Aharoni" panose="02010803020104030203" pitchFamily="2" charset="-79"/>
              </a:rPr>
              <a:t>M2L a fait appel à K3r-Tech pour répondre à une problématique liée à sa segmentation réseau.</a:t>
            </a:r>
          </a:p>
          <a:p>
            <a:pPr marL="0" indent="0">
              <a:buNone/>
            </a:pPr>
            <a:r>
              <a:rPr lang="fr-FR" sz="1600" dirty="0">
                <a:effectLst/>
                <a:latin typeface="Trebuchet MS" panose="020B0603020202020204" pitchFamily="34" charset="0"/>
                <a:ea typeface="Times New Roman" panose="02020603050405020304" pitchFamily="18" charset="0"/>
                <a:cs typeface="Aharoni" panose="02010803020104030203" pitchFamily="2" charset="-79"/>
              </a:rPr>
              <a:t>Pour des r</a:t>
            </a:r>
            <a:r>
              <a:rPr lang="fr-FR" sz="1600" dirty="0">
                <a:latin typeface="Trebuchet MS" panose="020B0603020202020204" pitchFamily="34" charset="0"/>
                <a:ea typeface="Times New Roman" panose="02020603050405020304" pitchFamily="18" charset="0"/>
                <a:cs typeface="Aharoni" panose="02010803020104030203" pitchFamily="2" charset="-79"/>
              </a:rPr>
              <a:t>aisons de sécurité,</a:t>
            </a:r>
            <a:r>
              <a:rPr lang="fr-FR" sz="1600" dirty="0">
                <a:effectLst/>
                <a:latin typeface="Trebuchet MS" panose="020B0603020202020204" pitchFamily="34" charset="0"/>
                <a:ea typeface="Times New Roman" panose="02020603050405020304" pitchFamily="18" charset="0"/>
                <a:cs typeface="Aharoni" panose="02010803020104030203" pitchFamily="2" charset="-79"/>
              </a:rPr>
              <a:t> en particulier pour des raisons de propagation de virus potentielles (les PC des ligues ne sont pas forcément bien administrés), chaque réseau de ligue doit être isolé dans un réseau virtuel (VLAN).</a:t>
            </a:r>
          </a:p>
          <a:p>
            <a:pPr marL="0" indent="0">
              <a:buNone/>
            </a:pPr>
            <a:endParaRPr lang="fr-FR" sz="1600" dirty="0">
              <a:effectLst/>
              <a:latin typeface="Trebuchet MS" panose="020B0603020202020204" pitchFamily="34" charset="0"/>
              <a:ea typeface="Times New Roman" panose="02020603050405020304" pitchFamily="18" charset="0"/>
              <a:cs typeface="Aharoni" panose="02010803020104030203" pitchFamily="2" charset="-79"/>
            </a:endParaRPr>
          </a:p>
          <a:p>
            <a:pPr marL="0" indent="0">
              <a:buNone/>
            </a:pPr>
            <a:r>
              <a:rPr lang="fr-FR" sz="1600" dirty="0">
                <a:latin typeface="Trebuchet MS" panose="020B0603020202020204" pitchFamily="34" charset="0"/>
                <a:ea typeface="Times New Roman" panose="02020603050405020304" pitchFamily="18" charset="0"/>
                <a:cs typeface="Aharoni" panose="02010803020104030203" pitchFamily="2" charset="-79"/>
              </a:rPr>
              <a:t>M2L souhaite une solution pour segmenter son réseau afin de limiter la propagation de virus et augmenter sa sécurité. </a:t>
            </a:r>
            <a:br>
              <a:rPr lang="fr-FR" sz="1600" dirty="0">
                <a:latin typeface="Trebuchet MS" panose="020B0603020202020204" pitchFamily="34" charset="0"/>
                <a:ea typeface="Times New Roman" panose="02020603050405020304" pitchFamily="18" charset="0"/>
                <a:cs typeface="Aharoni" panose="02010803020104030203" pitchFamily="2" charset="-79"/>
              </a:rPr>
            </a:br>
            <a:r>
              <a:rPr lang="fr-FR" sz="1600" dirty="0">
                <a:latin typeface="Trebuchet MS" panose="020B0603020202020204" pitchFamily="34" charset="0"/>
                <a:ea typeface="Times New Roman" panose="02020603050405020304" pitchFamily="18" charset="0"/>
                <a:cs typeface="Aharoni" panose="02010803020104030203" pitchFamily="2" charset="-79"/>
              </a:rPr>
              <a:t>Nous vous proposons d’aborder deux solutions de segmentation du réseau afin de limiter la propagation de potentiels virus et augmenter sa sécurité, pour que M2L puisse profiter d’une meilleure infrastructure.</a:t>
            </a:r>
            <a:endParaRPr lang="fr-FR" sz="1600" dirty="0">
              <a:effectLst/>
              <a:latin typeface="Trebuchet MS" panose="020B0603020202020204" pitchFamily="34" charset="0"/>
              <a:ea typeface="Times New Roman" panose="02020603050405020304" pitchFamily="18" charset="0"/>
              <a:cs typeface="Aharoni" panose="02010803020104030203" pitchFamily="2" charset="-79"/>
            </a:endParaRPr>
          </a:p>
          <a:p>
            <a:pPr marL="0" indent="0">
              <a:buNone/>
            </a:pPr>
            <a:r>
              <a:rPr lang="fr-FR" sz="1400" dirty="0">
                <a:latin typeface="Trebuchet MS" panose="020B0603020202020204" pitchFamily="34" charset="0"/>
                <a:ea typeface="Times New Roman" panose="02020603050405020304" pitchFamily="18" charset="0"/>
                <a:cs typeface="Aharoni" panose="02010803020104030203" pitchFamily="2" charset="-79"/>
              </a:rPr>
              <a:t> </a:t>
            </a:r>
            <a:endParaRPr lang="fr-FR" sz="1400" dirty="0">
              <a:latin typeface="Trebuchet MS" panose="020B0603020202020204" pitchFamily="34" charset="0"/>
            </a:endParaRPr>
          </a:p>
        </p:txBody>
      </p:sp>
      <p:pic>
        <p:nvPicPr>
          <p:cNvPr id="5" name="Image 4">
            <a:extLst>
              <a:ext uri="{FF2B5EF4-FFF2-40B4-BE49-F238E27FC236}">
                <a16:creationId xmlns:a16="http://schemas.microsoft.com/office/drawing/2014/main" id="{826E8082-8814-0295-8D53-A3836BB40EB3}"/>
              </a:ext>
            </a:extLst>
          </p:cNvPr>
          <p:cNvPicPr>
            <a:picLocks noChangeAspect="1"/>
          </p:cNvPicPr>
          <p:nvPr/>
        </p:nvPicPr>
        <p:blipFill>
          <a:blip r:embed="rId2">
            <a:extLst>
              <a:ext uri="{28A0092B-C50C-407E-A947-70E740481C1C}">
                <a14:useLocalDpi xmlns:a14="http://schemas.microsoft.com/office/drawing/2010/main" val="0"/>
              </a:ext>
            </a:extLst>
          </a:blip>
          <a:srcRect t="8581" b="8581"/>
          <a:stretch/>
        </p:blipFill>
        <p:spPr>
          <a:xfrm>
            <a:off x="7675658" y="2093976"/>
            <a:ext cx="3941064" cy="4096512"/>
          </a:xfrm>
          <a:prstGeom prst="rect">
            <a:avLst/>
          </a:prstGeom>
        </p:spPr>
      </p:pic>
    </p:spTree>
    <p:extLst>
      <p:ext uri="{BB962C8B-B14F-4D97-AF65-F5344CB8AC3E}">
        <p14:creationId xmlns:p14="http://schemas.microsoft.com/office/powerpoint/2010/main" val="381150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15">
            <a:extLst>
              <a:ext uri="{FF2B5EF4-FFF2-40B4-BE49-F238E27FC236}">
                <a16:creationId xmlns:a16="http://schemas.microsoft.com/office/drawing/2014/main" id="{4F0CCC29-1ADF-400B-B2E2-87AE5F0F39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7" name="Color">
              <a:extLst>
                <a:ext uri="{FF2B5EF4-FFF2-40B4-BE49-F238E27FC236}">
                  <a16:creationId xmlns:a16="http://schemas.microsoft.com/office/drawing/2014/main" id="{BD9615F1-E1A8-4B27-A6A8-4F50A77B2B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Color">
              <a:extLst>
                <a:ext uri="{FF2B5EF4-FFF2-40B4-BE49-F238E27FC236}">
                  <a16:creationId xmlns:a16="http://schemas.microsoft.com/office/drawing/2014/main" id="{BE138890-F764-4F96-86CE-30B4D8713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 name="Image 8" descr="Une image contenant diagramme&#10;&#10;Description générée automatiquement">
            <a:extLst>
              <a:ext uri="{FF2B5EF4-FFF2-40B4-BE49-F238E27FC236}">
                <a16:creationId xmlns:a16="http://schemas.microsoft.com/office/drawing/2014/main" id="{2DE5A7BF-2253-21D7-497C-A6043C705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2172" y="598259"/>
            <a:ext cx="3740310" cy="2814583"/>
          </a:xfrm>
          <a:prstGeom prst="rect">
            <a:avLst/>
          </a:prstGeom>
        </p:spPr>
      </p:pic>
      <p:pic>
        <p:nvPicPr>
          <p:cNvPr id="7" name="Image 6" descr="Une image contenant diagramme&#10;&#10;Description générée automatiquement">
            <a:extLst>
              <a:ext uri="{FF2B5EF4-FFF2-40B4-BE49-F238E27FC236}">
                <a16:creationId xmlns:a16="http://schemas.microsoft.com/office/drawing/2014/main" id="{C8C4D273-06B3-5A3D-0DAD-D3AD6AE2AA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2172" y="3587384"/>
            <a:ext cx="4756760" cy="2568650"/>
          </a:xfrm>
          <a:prstGeom prst="rect">
            <a:avLst/>
          </a:prstGeom>
        </p:spPr>
      </p:pic>
      <p:grpSp>
        <p:nvGrpSpPr>
          <p:cNvPr id="64" name="Group 1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5" name="Freeform: Shape 21">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6" name="Freeform: Shape 23">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7" name="Freeform: Shape 2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25">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2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re 1">
            <a:extLst>
              <a:ext uri="{FF2B5EF4-FFF2-40B4-BE49-F238E27FC236}">
                <a16:creationId xmlns:a16="http://schemas.microsoft.com/office/drawing/2014/main" id="{2D235CC7-3BC0-2BDB-32D3-8C8074C886B8}"/>
              </a:ext>
            </a:extLst>
          </p:cNvPr>
          <p:cNvSpPr>
            <a:spLocks noGrp="1"/>
          </p:cNvSpPr>
          <p:nvPr>
            <p:ph type="title"/>
          </p:nvPr>
        </p:nvSpPr>
        <p:spPr>
          <a:xfrm>
            <a:off x="786385" y="841249"/>
            <a:ext cx="5074368" cy="3018870"/>
          </a:xfrm>
        </p:spPr>
        <p:txBody>
          <a:bodyPr anchor="b">
            <a:normAutofit/>
          </a:bodyPr>
          <a:lstStyle/>
          <a:p>
            <a:r>
              <a:rPr lang="fr-FR" sz="4800" dirty="0">
                <a:solidFill>
                  <a:schemeClr val="bg1"/>
                </a:solidFill>
                <a:latin typeface="Trade Gothic Next Heavy" panose="020B0903040303020004" pitchFamily="34" charset="0"/>
                <a:cs typeface="Aharoni" panose="02010803020104030203" pitchFamily="2" charset="-79"/>
              </a:rPr>
              <a:t>II- Présentation de l’infrastructure d’M2L</a:t>
            </a:r>
            <a:endParaRPr lang="fr-FR" sz="4800" dirty="0">
              <a:solidFill>
                <a:schemeClr val="bg1"/>
              </a:solidFill>
              <a:latin typeface="Trade Gothic Next Heavy" panose="020B0903040303020004" pitchFamily="34" charset="0"/>
            </a:endParaRPr>
          </a:p>
        </p:txBody>
      </p:sp>
      <p:sp>
        <p:nvSpPr>
          <p:cNvPr id="3" name="Espace réservé du contenu 2">
            <a:extLst>
              <a:ext uri="{FF2B5EF4-FFF2-40B4-BE49-F238E27FC236}">
                <a16:creationId xmlns:a16="http://schemas.microsoft.com/office/drawing/2014/main" id="{7B9595B4-8CBB-C5D1-488B-AED94D9DA5B7}"/>
              </a:ext>
            </a:extLst>
          </p:cNvPr>
          <p:cNvSpPr>
            <a:spLocks noGrp="1"/>
          </p:cNvSpPr>
          <p:nvPr>
            <p:ph idx="1"/>
          </p:nvPr>
        </p:nvSpPr>
        <p:spPr>
          <a:xfrm>
            <a:off x="786383" y="3952172"/>
            <a:ext cx="5074368" cy="2229172"/>
          </a:xfrm>
        </p:spPr>
        <p:txBody>
          <a:bodyPr anchor="t">
            <a:normAutofit/>
          </a:bodyPr>
          <a:lstStyle/>
          <a:p>
            <a:pPr marL="0" indent="0">
              <a:buNone/>
            </a:pPr>
            <a:r>
              <a:rPr lang="fr-FR" sz="1800" dirty="0">
                <a:solidFill>
                  <a:schemeClr val="bg1"/>
                </a:solidFill>
                <a:latin typeface="Trebuchet MS" panose="020B0603020202020204" pitchFamily="34" charset="0"/>
                <a:cs typeface="Aharoni" panose="02010803020104030203" pitchFamily="2" charset="-79"/>
              </a:rPr>
              <a:t>Chez K3r-Tech, nous devons, en plus de proposer une/à plusieurs solutions, pour satisfaire les besoins d’M2L, également composer avec les éléments déjà existant au sein de l’infrastructure internet d’M2L.</a:t>
            </a:r>
          </a:p>
          <a:p>
            <a:pPr marL="0" indent="0">
              <a:buNone/>
            </a:pPr>
            <a:r>
              <a:rPr lang="fr-FR" sz="1800" dirty="0">
                <a:solidFill>
                  <a:schemeClr val="bg1"/>
                </a:solidFill>
                <a:latin typeface="Trebuchet MS" panose="020B0603020202020204" pitchFamily="34" charset="0"/>
                <a:cs typeface="Aharoni" panose="02010803020104030203" pitchFamily="2" charset="-79"/>
              </a:rPr>
              <a:t>Voici l’infrastructure du réseau d’M2L actuel :</a:t>
            </a:r>
          </a:p>
          <a:p>
            <a:pPr marL="0" indent="0">
              <a:buNone/>
            </a:pPr>
            <a:endParaRPr lang="fr-FR" sz="1800" dirty="0">
              <a:solidFill>
                <a:schemeClr val="bg1"/>
              </a:solidFill>
              <a:latin typeface="Aharoni" panose="02010803020104030203" pitchFamily="2" charset="-79"/>
              <a:cs typeface="Aharoni" panose="02010803020104030203" pitchFamily="2" charset="-79"/>
            </a:endParaRPr>
          </a:p>
          <a:p>
            <a:pPr marL="0" indent="0">
              <a:buNone/>
            </a:pPr>
            <a:endParaRPr lang="fr-FR" sz="1800" dirty="0">
              <a:solidFill>
                <a:schemeClr val="bg1"/>
              </a:solidFill>
              <a:latin typeface="Aharoni" panose="02010803020104030203" pitchFamily="2" charset="-79"/>
              <a:cs typeface="Aharoni" panose="02010803020104030203" pitchFamily="2" charset="-79"/>
            </a:endParaRPr>
          </a:p>
        </p:txBody>
      </p:sp>
      <p:sp>
        <p:nvSpPr>
          <p:cNvPr id="5" name="AutoShape 2">
            <a:extLst>
              <a:ext uri="{FF2B5EF4-FFF2-40B4-BE49-F238E27FC236}">
                <a16:creationId xmlns:a16="http://schemas.microsoft.com/office/drawing/2014/main" id="{E845734F-9CED-3AF5-41A9-6D8CFA2127DE}"/>
              </a:ext>
            </a:extLst>
          </p:cNvPr>
          <p:cNvSpPr>
            <a:spLocks noChangeAspect="1" noChangeArrowheads="1"/>
          </p:cNvSpPr>
          <p:nvPr/>
        </p:nvSpPr>
        <p:spPr bwMode="auto">
          <a:xfrm>
            <a:off x="5943600" y="3276600"/>
            <a:ext cx="2977978" cy="297797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861771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F4CAE8C-BDDE-2FB8-2C47-B067B968354C}"/>
              </a:ext>
            </a:extLst>
          </p:cNvPr>
          <p:cNvSpPr>
            <a:spLocks noGrp="1"/>
          </p:cNvSpPr>
          <p:nvPr>
            <p:ph type="title"/>
          </p:nvPr>
        </p:nvSpPr>
        <p:spPr>
          <a:xfrm>
            <a:off x="779535" y="1028749"/>
            <a:ext cx="4460105" cy="4929848"/>
          </a:xfrm>
        </p:spPr>
        <p:txBody>
          <a:bodyPr>
            <a:normAutofit/>
          </a:bodyPr>
          <a:lstStyle/>
          <a:p>
            <a:r>
              <a:rPr lang="fr-FR" sz="5400" b="1" dirty="0">
                <a:solidFill>
                  <a:srgbClr val="FFFFFF"/>
                </a:solidFill>
                <a:latin typeface="Trade Gothic Next Heavy" panose="020B0903040303020004" pitchFamily="34" charset="0"/>
                <a:cs typeface="Aharoni" panose="02010803020104030203" pitchFamily="2" charset="-79"/>
              </a:rPr>
              <a:t>Les solutions K3r-Tech !</a:t>
            </a:r>
            <a:endParaRPr lang="fr-FR" sz="5400" b="1" dirty="0">
              <a:solidFill>
                <a:srgbClr val="FFFFFF"/>
              </a:solidFill>
              <a:latin typeface="Trade Gothic Next Heavy" panose="020B0903040303020004" pitchFamily="34" charset="0"/>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C563A45B-1A76-4291-2B11-6E881696E360}"/>
              </a:ext>
            </a:extLst>
          </p:cNvPr>
          <p:cNvSpPr>
            <a:spLocks noGrp="1"/>
          </p:cNvSpPr>
          <p:nvPr>
            <p:ph idx="1"/>
          </p:nvPr>
        </p:nvSpPr>
        <p:spPr>
          <a:xfrm>
            <a:off x="5370153" y="1526033"/>
            <a:ext cx="5536397" cy="3935281"/>
          </a:xfrm>
        </p:spPr>
        <p:txBody>
          <a:bodyPr>
            <a:normAutofit/>
          </a:bodyPr>
          <a:lstStyle/>
          <a:p>
            <a:r>
              <a:rPr lang="fr-FR" b="1" dirty="0">
                <a:latin typeface="Trebuchet MS" panose="020B0603020202020204" pitchFamily="34" charset="0"/>
              </a:rPr>
              <a:t>Nous vous présentons 2 solutions par problématique !</a:t>
            </a:r>
            <a:br>
              <a:rPr lang="fr-FR" b="1" dirty="0">
                <a:latin typeface="Trebuchet MS" panose="020B0603020202020204" pitchFamily="34" charset="0"/>
              </a:rPr>
            </a:br>
            <a:br>
              <a:rPr lang="fr-FR" b="1" dirty="0">
                <a:latin typeface="Trebuchet MS" panose="020B0603020202020204" pitchFamily="34" charset="0"/>
              </a:rPr>
            </a:br>
            <a:endParaRPr lang="fr-FR" b="1" dirty="0">
              <a:latin typeface="Trebuchet MS" panose="020B0603020202020204" pitchFamily="34" charset="0"/>
            </a:endParaRPr>
          </a:p>
          <a:p>
            <a:r>
              <a:rPr lang="fr-FR" b="1" dirty="0">
                <a:latin typeface="Trebuchet MS" panose="020B0603020202020204" pitchFamily="34" charset="0"/>
              </a:rPr>
              <a:t>Une couteuse mais parfaitement à la pointe</a:t>
            </a:r>
            <a:br>
              <a:rPr lang="fr-FR" b="1" dirty="0">
                <a:latin typeface="Trebuchet MS" panose="020B0603020202020204" pitchFamily="34" charset="0"/>
              </a:rPr>
            </a:br>
            <a:endParaRPr lang="fr-FR" b="1" dirty="0">
              <a:latin typeface="Trebuchet MS" panose="020B0603020202020204" pitchFamily="34" charset="0"/>
            </a:endParaRPr>
          </a:p>
          <a:p>
            <a:r>
              <a:rPr lang="fr-FR" b="1" dirty="0">
                <a:latin typeface="Trebuchet MS" panose="020B0603020202020204" pitchFamily="34" charset="0"/>
              </a:rPr>
              <a:t>Une avantageuse et tout aussi efficace !</a:t>
            </a:r>
          </a:p>
        </p:txBody>
      </p:sp>
    </p:spTree>
    <p:extLst>
      <p:ext uri="{BB962C8B-B14F-4D97-AF65-F5344CB8AC3E}">
        <p14:creationId xmlns:p14="http://schemas.microsoft.com/office/powerpoint/2010/main" val="95658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D232A86-3E57-347A-4FBB-4072CC8A987F}"/>
              </a:ext>
            </a:extLst>
          </p:cNvPr>
          <p:cNvSpPr>
            <a:spLocks noGrp="1"/>
          </p:cNvSpPr>
          <p:nvPr>
            <p:ph type="title"/>
          </p:nvPr>
        </p:nvSpPr>
        <p:spPr>
          <a:xfrm>
            <a:off x="6412091" y="501651"/>
            <a:ext cx="4395340" cy="1716255"/>
          </a:xfrm>
        </p:spPr>
        <p:txBody>
          <a:bodyPr anchor="b">
            <a:normAutofit/>
          </a:bodyPr>
          <a:lstStyle/>
          <a:p>
            <a:r>
              <a:rPr lang="fr-FR" sz="5600" dirty="0">
                <a:latin typeface="Trade Gothic Next Heavy" panose="020B0903040303020004" pitchFamily="34" charset="0"/>
              </a:rPr>
              <a:t>1</a:t>
            </a:r>
            <a:r>
              <a:rPr lang="fr-FR" sz="5600" baseline="30000" dirty="0">
                <a:latin typeface="Trade Gothic Next Heavy" panose="020B0903040303020004" pitchFamily="34" charset="0"/>
              </a:rPr>
              <a:t>ère</a:t>
            </a:r>
            <a:r>
              <a:rPr lang="fr-FR" sz="5600" dirty="0">
                <a:latin typeface="Trade Gothic Next Heavy" panose="020B0903040303020004" pitchFamily="34" charset="0"/>
              </a:rPr>
              <a:t> solution </a:t>
            </a:r>
          </a:p>
        </p:txBody>
      </p:sp>
      <p:sp>
        <p:nvSpPr>
          <p:cNvPr id="30" name="Rectangle 2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a:extLst>
              <a:ext uri="{FF2B5EF4-FFF2-40B4-BE49-F238E27FC236}">
                <a16:creationId xmlns:a16="http://schemas.microsoft.com/office/drawing/2014/main" id="{4DF674FE-A553-19E8-FB3D-3587B0D24B0A}"/>
              </a:ext>
            </a:extLst>
          </p:cNvPr>
          <p:cNvPicPr>
            <a:picLocks noChangeAspect="1"/>
          </p:cNvPicPr>
          <p:nvPr/>
        </p:nvPicPr>
        <p:blipFill>
          <a:blip r:embed="rId2"/>
          <a:stretch>
            <a:fillRect/>
          </a:stretch>
        </p:blipFill>
        <p:spPr>
          <a:xfrm>
            <a:off x="464600" y="299509"/>
            <a:ext cx="4850710" cy="6258983"/>
          </a:xfrm>
          <a:prstGeom prst="rect">
            <a:avLst/>
          </a:prstGeom>
        </p:spPr>
      </p:pic>
      <p:sp>
        <p:nvSpPr>
          <p:cNvPr id="3" name="Espace réservé du contenu 2">
            <a:extLst>
              <a:ext uri="{FF2B5EF4-FFF2-40B4-BE49-F238E27FC236}">
                <a16:creationId xmlns:a16="http://schemas.microsoft.com/office/drawing/2014/main" id="{B21D5268-8ED9-C097-3CAE-FE2645D0BBEB}"/>
              </a:ext>
            </a:extLst>
          </p:cNvPr>
          <p:cNvSpPr>
            <a:spLocks noGrp="1"/>
          </p:cNvSpPr>
          <p:nvPr>
            <p:ph idx="1"/>
          </p:nvPr>
        </p:nvSpPr>
        <p:spPr>
          <a:xfrm>
            <a:off x="6392583" y="2645922"/>
            <a:ext cx="4434721" cy="3710427"/>
          </a:xfrm>
        </p:spPr>
        <p:txBody>
          <a:bodyPr anchor="t">
            <a:normAutofit/>
          </a:bodyPr>
          <a:lstStyle/>
          <a:p>
            <a:r>
              <a:rPr lang="fr-FR" sz="2000" dirty="0">
                <a:solidFill>
                  <a:schemeClr val="tx1">
                    <a:alpha val="80000"/>
                  </a:schemeClr>
                </a:solidFill>
                <a:latin typeface="Trebuchet MS" panose="020B0603020202020204" pitchFamily="34" charset="0"/>
              </a:rPr>
              <a:t>Segmentation de réseau par VLAN</a:t>
            </a:r>
          </a:p>
          <a:p>
            <a:pPr marL="0" indent="0">
              <a:buNone/>
            </a:pPr>
            <a:endParaRPr lang="fr-FR" sz="2000" dirty="0">
              <a:solidFill>
                <a:schemeClr val="tx1">
                  <a:alpha val="80000"/>
                </a:schemeClr>
              </a:solidFill>
            </a:endParaRPr>
          </a:p>
        </p:txBody>
      </p:sp>
      <p:cxnSp>
        <p:nvCxnSpPr>
          <p:cNvPr id="32" name="Straight Connector 3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604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Color Cover">
            <a:extLst>
              <a:ext uri="{FF2B5EF4-FFF2-40B4-BE49-F238E27FC236}">
                <a16:creationId xmlns:a16="http://schemas.microsoft.com/office/drawing/2014/main" id="{34DE9D20-D6C2-4834-9EE9-EC583F3FE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a:extLst>
              <a:ext uri="{FF2B5EF4-FFF2-40B4-BE49-F238E27FC236}">
                <a16:creationId xmlns:a16="http://schemas.microsoft.com/office/drawing/2014/main" id="{6840C728-4E01-4237-82C8-9624DFA855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42" name="Color">
              <a:extLst>
                <a:ext uri="{FF2B5EF4-FFF2-40B4-BE49-F238E27FC236}">
                  <a16:creationId xmlns:a16="http://schemas.microsoft.com/office/drawing/2014/main" id="{F1CFB22B-2D73-4F2C-953D-8C306B45B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olor">
              <a:extLst>
                <a:ext uri="{FF2B5EF4-FFF2-40B4-BE49-F238E27FC236}">
                  <a16:creationId xmlns:a16="http://schemas.microsoft.com/office/drawing/2014/main" id="{819F58A9-E813-4511-BEF2-5B65BB728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5" name="Group 44">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6" name="Freeform: Shape 45">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 name="Freeform: Shape 50">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2" name="Freeform: Shape 51">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re 1">
            <a:extLst>
              <a:ext uri="{FF2B5EF4-FFF2-40B4-BE49-F238E27FC236}">
                <a16:creationId xmlns:a16="http://schemas.microsoft.com/office/drawing/2014/main" id="{ED232A86-3E57-347A-4FBB-4072CC8A987F}"/>
              </a:ext>
            </a:extLst>
          </p:cNvPr>
          <p:cNvSpPr>
            <a:spLocks noGrp="1"/>
          </p:cNvSpPr>
          <p:nvPr>
            <p:ph type="title"/>
          </p:nvPr>
        </p:nvSpPr>
        <p:spPr>
          <a:xfrm>
            <a:off x="786385" y="3153563"/>
            <a:ext cx="5074368" cy="706556"/>
          </a:xfrm>
        </p:spPr>
        <p:txBody>
          <a:bodyPr anchor="b">
            <a:normAutofit fontScale="90000"/>
          </a:bodyPr>
          <a:lstStyle/>
          <a:p>
            <a:r>
              <a:rPr lang="fr-FR" sz="4800" dirty="0">
                <a:solidFill>
                  <a:schemeClr val="bg1"/>
                </a:solidFill>
                <a:latin typeface="Trade Gothic Next Heavy" panose="020B0903040303020004" pitchFamily="34" charset="0"/>
              </a:rPr>
              <a:t>2</a:t>
            </a:r>
            <a:r>
              <a:rPr lang="fr-FR" sz="4800" baseline="30000" dirty="0">
                <a:solidFill>
                  <a:schemeClr val="bg1"/>
                </a:solidFill>
                <a:latin typeface="Trade Gothic Next Heavy" panose="020B0903040303020004" pitchFamily="34" charset="0"/>
              </a:rPr>
              <a:t>ème</a:t>
            </a:r>
            <a:r>
              <a:rPr lang="fr-FR" sz="4800" dirty="0">
                <a:solidFill>
                  <a:schemeClr val="bg1"/>
                </a:solidFill>
                <a:latin typeface="Trade Gothic Next Heavy" panose="020B0903040303020004" pitchFamily="34" charset="0"/>
              </a:rPr>
              <a:t> solution </a:t>
            </a:r>
          </a:p>
        </p:txBody>
      </p:sp>
      <p:sp>
        <p:nvSpPr>
          <p:cNvPr id="3" name="Espace réservé du contenu 2">
            <a:extLst>
              <a:ext uri="{FF2B5EF4-FFF2-40B4-BE49-F238E27FC236}">
                <a16:creationId xmlns:a16="http://schemas.microsoft.com/office/drawing/2014/main" id="{B21D5268-8ED9-C097-3CAE-FE2645D0BBEB}"/>
              </a:ext>
            </a:extLst>
          </p:cNvPr>
          <p:cNvSpPr>
            <a:spLocks noGrp="1"/>
          </p:cNvSpPr>
          <p:nvPr>
            <p:ph idx="1"/>
          </p:nvPr>
        </p:nvSpPr>
        <p:spPr>
          <a:xfrm>
            <a:off x="786383" y="3952172"/>
            <a:ext cx="5074368" cy="366440"/>
          </a:xfrm>
        </p:spPr>
        <p:txBody>
          <a:bodyPr anchor="t">
            <a:normAutofit/>
          </a:bodyPr>
          <a:lstStyle/>
          <a:p>
            <a:r>
              <a:rPr lang="fr-FR" sz="1800" dirty="0">
                <a:solidFill>
                  <a:schemeClr val="bg1"/>
                </a:solidFill>
                <a:latin typeface="Trebuchet MS" panose="020B0603020202020204" pitchFamily="34" charset="0"/>
              </a:rPr>
              <a:t>Segmentation de réseau par VLAN</a:t>
            </a:r>
          </a:p>
          <a:p>
            <a:pPr marL="0" indent="0">
              <a:buNone/>
            </a:pPr>
            <a:endParaRPr lang="fr-FR" sz="1800" dirty="0">
              <a:solidFill>
                <a:schemeClr val="bg1"/>
              </a:solidFill>
            </a:endParaRPr>
          </a:p>
        </p:txBody>
      </p:sp>
      <p:pic>
        <p:nvPicPr>
          <p:cNvPr id="6" name="Image 5">
            <a:extLst>
              <a:ext uri="{FF2B5EF4-FFF2-40B4-BE49-F238E27FC236}">
                <a16:creationId xmlns:a16="http://schemas.microsoft.com/office/drawing/2014/main" id="{DE423AA5-348C-D856-B598-A88F5DADB792}"/>
              </a:ext>
            </a:extLst>
          </p:cNvPr>
          <p:cNvPicPr>
            <a:picLocks noChangeAspect="1"/>
          </p:cNvPicPr>
          <p:nvPr/>
        </p:nvPicPr>
        <p:blipFill rotWithShape="1">
          <a:blip r:embed="rId2"/>
          <a:srcRect t="451" b="-523"/>
          <a:stretch/>
        </p:blipFill>
        <p:spPr>
          <a:xfrm>
            <a:off x="6982892" y="684000"/>
            <a:ext cx="4293501" cy="5544000"/>
          </a:xfrm>
          <a:prstGeom prst="rect">
            <a:avLst/>
          </a:prstGeom>
        </p:spPr>
      </p:pic>
    </p:spTree>
    <p:extLst>
      <p:ext uri="{BB962C8B-B14F-4D97-AF65-F5344CB8AC3E}">
        <p14:creationId xmlns:p14="http://schemas.microsoft.com/office/powerpoint/2010/main" val="1849038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D232A86-3E57-347A-4FBB-4072CC8A987F}"/>
              </a:ext>
            </a:extLst>
          </p:cNvPr>
          <p:cNvSpPr>
            <a:spLocks noGrp="1"/>
          </p:cNvSpPr>
          <p:nvPr>
            <p:ph type="title"/>
          </p:nvPr>
        </p:nvSpPr>
        <p:spPr>
          <a:xfrm>
            <a:off x="6412091" y="501651"/>
            <a:ext cx="4395340" cy="1716255"/>
          </a:xfrm>
        </p:spPr>
        <p:txBody>
          <a:bodyPr anchor="b">
            <a:normAutofit/>
          </a:bodyPr>
          <a:lstStyle/>
          <a:p>
            <a:r>
              <a:rPr lang="fr-FR" sz="5600" dirty="0">
                <a:latin typeface="Trade Gothic Next Heavy" panose="020B0903040303020004" pitchFamily="34" charset="0"/>
              </a:rPr>
              <a:t>1</a:t>
            </a:r>
            <a:r>
              <a:rPr lang="fr-FR" sz="5600" baseline="30000" dirty="0">
                <a:latin typeface="Trade Gothic Next Heavy" panose="020B0903040303020004" pitchFamily="34" charset="0"/>
              </a:rPr>
              <a:t>ère</a:t>
            </a:r>
            <a:r>
              <a:rPr lang="fr-FR" sz="5600" dirty="0">
                <a:latin typeface="Trade Gothic Next Heavy" panose="020B0903040303020004" pitchFamily="34" charset="0"/>
              </a:rPr>
              <a:t> solution </a:t>
            </a:r>
          </a:p>
        </p:txBody>
      </p:sp>
      <p:sp>
        <p:nvSpPr>
          <p:cNvPr id="30" name="Rectangle 2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a:extLst>
              <a:ext uri="{FF2B5EF4-FFF2-40B4-BE49-F238E27FC236}">
                <a16:creationId xmlns:a16="http://schemas.microsoft.com/office/drawing/2014/main" id="{4DF674FE-A553-19E8-FB3D-3587B0D24B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0449" y="299509"/>
            <a:ext cx="4839011" cy="6258983"/>
          </a:xfrm>
          <a:prstGeom prst="rect">
            <a:avLst/>
          </a:prstGeom>
        </p:spPr>
      </p:pic>
      <p:sp>
        <p:nvSpPr>
          <p:cNvPr id="3" name="Espace réservé du contenu 2">
            <a:extLst>
              <a:ext uri="{FF2B5EF4-FFF2-40B4-BE49-F238E27FC236}">
                <a16:creationId xmlns:a16="http://schemas.microsoft.com/office/drawing/2014/main" id="{B21D5268-8ED9-C097-3CAE-FE2645D0BBEB}"/>
              </a:ext>
            </a:extLst>
          </p:cNvPr>
          <p:cNvSpPr>
            <a:spLocks noGrp="1"/>
          </p:cNvSpPr>
          <p:nvPr>
            <p:ph idx="1"/>
          </p:nvPr>
        </p:nvSpPr>
        <p:spPr>
          <a:xfrm>
            <a:off x="6096000" y="2645922"/>
            <a:ext cx="5372559" cy="3710427"/>
          </a:xfrm>
        </p:spPr>
        <p:txBody>
          <a:bodyPr anchor="t">
            <a:normAutofit/>
          </a:bodyPr>
          <a:lstStyle/>
          <a:p>
            <a:r>
              <a:rPr lang="fr-FR" sz="2000" dirty="0">
                <a:solidFill>
                  <a:schemeClr val="tx1">
                    <a:alpha val="80000"/>
                  </a:schemeClr>
                </a:solidFill>
                <a:latin typeface="Trebuchet MS" panose="020B0603020202020204" pitchFamily="34" charset="0"/>
              </a:rPr>
              <a:t>Mise en place d’une IP statique via DHCP</a:t>
            </a:r>
          </a:p>
        </p:txBody>
      </p:sp>
      <p:cxnSp>
        <p:nvCxnSpPr>
          <p:cNvPr id="32" name="Straight Connector 3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290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Color Cover">
            <a:extLst>
              <a:ext uri="{FF2B5EF4-FFF2-40B4-BE49-F238E27FC236}">
                <a16:creationId xmlns:a16="http://schemas.microsoft.com/office/drawing/2014/main" id="{34DE9D20-D6C2-4834-9EE9-EC583F3FE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a:extLst>
              <a:ext uri="{FF2B5EF4-FFF2-40B4-BE49-F238E27FC236}">
                <a16:creationId xmlns:a16="http://schemas.microsoft.com/office/drawing/2014/main" id="{6840C728-4E01-4237-82C8-9624DFA855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42" name="Color">
              <a:extLst>
                <a:ext uri="{FF2B5EF4-FFF2-40B4-BE49-F238E27FC236}">
                  <a16:creationId xmlns:a16="http://schemas.microsoft.com/office/drawing/2014/main" id="{F1CFB22B-2D73-4F2C-953D-8C306B45B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olor">
              <a:extLst>
                <a:ext uri="{FF2B5EF4-FFF2-40B4-BE49-F238E27FC236}">
                  <a16:creationId xmlns:a16="http://schemas.microsoft.com/office/drawing/2014/main" id="{819F58A9-E813-4511-BEF2-5B65BB728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Image 4">
            <a:extLst>
              <a:ext uri="{FF2B5EF4-FFF2-40B4-BE49-F238E27FC236}">
                <a16:creationId xmlns:a16="http://schemas.microsoft.com/office/drawing/2014/main" id="{4DF674FE-A553-19E8-FB3D-3587B0D24B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91399" y="653615"/>
            <a:ext cx="4276125" cy="5540004"/>
          </a:xfrm>
          <a:prstGeom prst="rect">
            <a:avLst/>
          </a:prstGeom>
        </p:spPr>
      </p:pic>
      <p:grpSp>
        <p:nvGrpSpPr>
          <p:cNvPr id="45" name="Group 44">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6" name="Freeform: Shape 45">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 name="Freeform: Shape 50">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2" name="Freeform: Shape 51">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re 1">
            <a:extLst>
              <a:ext uri="{FF2B5EF4-FFF2-40B4-BE49-F238E27FC236}">
                <a16:creationId xmlns:a16="http://schemas.microsoft.com/office/drawing/2014/main" id="{ED232A86-3E57-347A-4FBB-4072CC8A987F}"/>
              </a:ext>
            </a:extLst>
          </p:cNvPr>
          <p:cNvSpPr>
            <a:spLocks noGrp="1"/>
          </p:cNvSpPr>
          <p:nvPr>
            <p:ph type="title"/>
          </p:nvPr>
        </p:nvSpPr>
        <p:spPr>
          <a:xfrm>
            <a:off x="786385" y="3153563"/>
            <a:ext cx="5074368" cy="706556"/>
          </a:xfrm>
        </p:spPr>
        <p:txBody>
          <a:bodyPr anchor="b">
            <a:normAutofit fontScale="90000"/>
          </a:bodyPr>
          <a:lstStyle/>
          <a:p>
            <a:r>
              <a:rPr lang="fr-FR" sz="4800" dirty="0">
                <a:solidFill>
                  <a:schemeClr val="bg1"/>
                </a:solidFill>
                <a:latin typeface="Trade Gothic Next Heavy" panose="020B0903040303020004" pitchFamily="34" charset="0"/>
              </a:rPr>
              <a:t>2</a:t>
            </a:r>
            <a:r>
              <a:rPr lang="fr-FR" sz="4800" baseline="30000" dirty="0">
                <a:solidFill>
                  <a:schemeClr val="bg1"/>
                </a:solidFill>
                <a:latin typeface="Trade Gothic Next Heavy" panose="020B0903040303020004" pitchFamily="34" charset="0"/>
              </a:rPr>
              <a:t>ème</a:t>
            </a:r>
            <a:r>
              <a:rPr lang="fr-FR" sz="4800" dirty="0">
                <a:solidFill>
                  <a:schemeClr val="bg1"/>
                </a:solidFill>
                <a:latin typeface="Trade Gothic Next Heavy" panose="020B0903040303020004" pitchFamily="34" charset="0"/>
              </a:rPr>
              <a:t> solution </a:t>
            </a:r>
          </a:p>
        </p:txBody>
      </p:sp>
      <p:sp>
        <p:nvSpPr>
          <p:cNvPr id="3" name="Espace réservé du contenu 2">
            <a:extLst>
              <a:ext uri="{FF2B5EF4-FFF2-40B4-BE49-F238E27FC236}">
                <a16:creationId xmlns:a16="http://schemas.microsoft.com/office/drawing/2014/main" id="{B21D5268-8ED9-C097-3CAE-FE2645D0BBEB}"/>
              </a:ext>
            </a:extLst>
          </p:cNvPr>
          <p:cNvSpPr>
            <a:spLocks noGrp="1"/>
          </p:cNvSpPr>
          <p:nvPr>
            <p:ph idx="1"/>
          </p:nvPr>
        </p:nvSpPr>
        <p:spPr>
          <a:xfrm>
            <a:off x="786383" y="3952172"/>
            <a:ext cx="5074368" cy="366440"/>
          </a:xfrm>
        </p:spPr>
        <p:txBody>
          <a:bodyPr anchor="t">
            <a:normAutofit/>
          </a:bodyPr>
          <a:lstStyle/>
          <a:p>
            <a:r>
              <a:rPr lang="fr-FR" sz="1800" dirty="0">
                <a:solidFill>
                  <a:schemeClr val="bg1"/>
                </a:solidFill>
                <a:latin typeface="Trebuchet MS" panose="020B0603020202020204" pitchFamily="34" charset="0"/>
              </a:rPr>
              <a:t>Mise en place d’une IP statique via DHCP</a:t>
            </a:r>
          </a:p>
          <a:p>
            <a:pPr marL="0" indent="0">
              <a:buNone/>
            </a:pPr>
            <a:endParaRPr lang="fr-FR" sz="1800" dirty="0">
              <a:solidFill>
                <a:schemeClr val="bg1"/>
              </a:solidFill>
            </a:endParaRPr>
          </a:p>
        </p:txBody>
      </p:sp>
    </p:spTree>
    <p:extLst>
      <p:ext uri="{BB962C8B-B14F-4D97-AF65-F5344CB8AC3E}">
        <p14:creationId xmlns:p14="http://schemas.microsoft.com/office/powerpoint/2010/main" val="1644937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CCCB6D-5162-4AAE-A5E3-3AC55410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BCD8C04-CC7B-40EF-82EB-E9821F79B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0" y="2458"/>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 12" descr="Une image contenant texte, carte de visite, graphique vectoriel&#10;&#10;Description générée automatiquement">
            <a:extLst>
              <a:ext uri="{FF2B5EF4-FFF2-40B4-BE49-F238E27FC236}">
                <a16:creationId xmlns:a16="http://schemas.microsoft.com/office/drawing/2014/main" id="{C43A5428-9492-E2C3-72CA-06554CECC66D}"/>
              </a:ext>
            </a:extLst>
          </p:cNvPr>
          <p:cNvPicPr>
            <a:picLocks noChangeAspect="1"/>
          </p:cNvPicPr>
          <p:nvPr/>
        </p:nvPicPr>
        <p:blipFill rotWithShape="1">
          <a:blip r:embed="rId2">
            <a:alphaModFix amt="40000"/>
            <a:extLst>
              <a:ext uri="{28A0092B-C50C-407E-A947-70E740481C1C}">
                <a14:useLocalDpi xmlns:a14="http://schemas.microsoft.com/office/drawing/2010/main" val="0"/>
              </a:ext>
            </a:extLst>
          </a:blip>
          <a:srcRect r="1" b="18844"/>
          <a:stretch/>
        </p:blipFill>
        <p:spPr>
          <a:xfrm>
            <a:off x="-170" y="10"/>
            <a:ext cx="8450317" cy="6857990"/>
          </a:xfrm>
          <a:prstGeom prst="rect">
            <a:avLst/>
          </a:prstGeom>
        </p:spPr>
      </p:pic>
      <p:sp>
        <p:nvSpPr>
          <p:cNvPr id="2" name="Titre 1">
            <a:extLst>
              <a:ext uri="{FF2B5EF4-FFF2-40B4-BE49-F238E27FC236}">
                <a16:creationId xmlns:a16="http://schemas.microsoft.com/office/drawing/2014/main" id="{88555DD3-C35A-CFA4-A915-20F4CC762A95}"/>
              </a:ext>
            </a:extLst>
          </p:cNvPr>
          <p:cNvSpPr>
            <a:spLocks noGrp="1"/>
          </p:cNvSpPr>
          <p:nvPr>
            <p:ph type="title"/>
          </p:nvPr>
        </p:nvSpPr>
        <p:spPr>
          <a:xfrm>
            <a:off x="709568" y="2934976"/>
            <a:ext cx="4620584" cy="4567137"/>
          </a:xfrm>
        </p:spPr>
        <p:txBody>
          <a:bodyPr vert="horz" lIns="91440" tIns="45720" rIns="91440" bIns="45720" rtlCol="0" anchor="b">
            <a:normAutofit/>
          </a:bodyPr>
          <a:lstStyle/>
          <a:p>
            <a:r>
              <a:rPr lang="en-US" kern="1200" dirty="0" err="1">
                <a:solidFill>
                  <a:srgbClr val="FFFFFF"/>
                </a:solidFill>
                <a:latin typeface="+mj-lt"/>
                <a:ea typeface="+mj-ea"/>
                <a:cs typeface="+mj-cs"/>
              </a:rPr>
              <a:t>L’équipe</a:t>
            </a:r>
            <a:r>
              <a:rPr lang="en-US" kern="1200" dirty="0">
                <a:solidFill>
                  <a:srgbClr val="FFFFFF"/>
                </a:solidFill>
                <a:latin typeface="+mj-lt"/>
                <a:ea typeface="+mj-ea"/>
                <a:cs typeface="+mj-cs"/>
              </a:rPr>
              <a:t> K3r-Tech </a:t>
            </a:r>
            <a:r>
              <a:rPr lang="en-US" kern="1200" dirty="0" err="1">
                <a:solidFill>
                  <a:srgbClr val="FFFFFF"/>
                </a:solidFill>
                <a:latin typeface="+mj-lt"/>
                <a:ea typeface="+mj-ea"/>
                <a:cs typeface="+mj-cs"/>
              </a:rPr>
              <a:t>vous</a:t>
            </a:r>
            <a:r>
              <a:rPr lang="en-US" kern="1200" dirty="0">
                <a:solidFill>
                  <a:srgbClr val="FFFFFF"/>
                </a:solidFill>
                <a:latin typeface="+mj-lt"/>
                <a:ea typeface="+mj-ea"/>
                <a:cs typeface="+mj-cs"/>
              </a:rPr>
              <a:t> remercies pour </a:t>
            </a:r>
            <a:r>
              <a:rPr lang="en-US" kern="1200" dirty="0" err="1">
                <a:solidFill>
                  <a:srgbClr val="FFFFFF"/>
                </a:solidFill>
                <a:latin typeface="+mj-lt"/>
                <a:ea typeface="+mj-ea"/>
                <a:cs typeface="+mj-cs"/>
              </a:rPr>
              <a:t>votre</a:t>
            </a:r>
            <a:r>
              <a:rPr lang="en-US" kern="1200" dirty="0">
                <a:solidFill>
                  <a:srgbClr val="FFFFFF"/>
                </a:solidFill>
                <a:latin typeface="+mj-lt"/>
                <a:ea typeface="+mj-ea"/>
                <a:cs typeface="+mj-cs"/>
              </a:rPr>
              <a:t> attention</a:t>
            </a:r>
            <a:br>
              <a:rPr lang="en-US" kern="1200" dirty="0">
                <a:solidFill>
                  <a:srgbClr val="FFFFFF"/>
                </a:solidFill>
                <a:latin typeface="+mj-lt"/>
                <a:ea typeface="+mj-ea"/>
                <a:cs typeface="+mj-cs"/>
              </a:rPr>
            </a:br>
            <a:br>
              <a:rPr lang="en-US" kern="1200" dirty="0">
                <a:solidFill>
                  <a:srgbClr val="FFFFFF"/>
                </a:solidFill>
                <a:latin typeface="+mj-lt"/>
                <a:ea typeface="+mj-ea"/>
                <a:cs typeface="+mj-cs"/>
              </a:rPr>
            </a:br>
            <a:endParaRPr lang="en-US" kern="1200" dirty="0">
              <a:solidFill>
                <a:srgbClr val="FFFFFF"/>
              </a:solidFill>
              <a:latin typeface="+mj-lt"/>
              <a:ea typeface="+mj-ea"/>
              <a:cs typeface="+mj-cs"/>
            </a:endParaRPr>
          </a:p>
        </p:txBody>
      </p:sp>
      <p:pic>
        <p:nvPicPr>
          <p:cNvPr id="11" name="Espace réservé du contenu 10" descr="Une image contenant texte&#10;&#10;Description générée automatiquement">
            <a:extLst>
              <a:ext uri="{FF2B5EF4-FFF2-40B4-BE49-F238E27FC236}">
                <a16:creationId xmlns:a16="http://schemas.microsoft.com/office/drawing/2014/main" id="{EFB85794-795F-EEC6-8BC1-1996635AE45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8277" r="-1" b="-1"/>
          <a:stretch/>
        </p:blipFill>
        <p:spPr>
          <a:xfrm>
            <a:off x="6225997" y="-2458"/>
            <a:ext cx="5962785"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140393645"/>
      </p:ext>
    </p:extLst>
  </p:cSld>
  <p:clrMapOvr>
    <a:masterClrMapping/>
  </p:clrMapOvr>
</p:sld>
</file>

<file path=ppt/theme/theme1.xml><?xml version="1.0" encoding="utf-8"?>
<a:theme xmlns:a="http://schemas.openxmlformats.org/drawingml/2006/main" name="Thème Office">
  <a:themeElements>
    <a:clrScheme name="K3rTech">
      <a:dk1>
        <a:sysClr val="windowText" lastClr="000000"/>
      </a:dk1>
      <a:lt1>
        <a:srgbClr val="FFFFFF"/>
      </a:lt1>
      <a:dk2>
        <a:srgbClr val="7CCA62"/>
      </a:dk2>
      <a:lt2>
        <a:srgbClr val="7CCA62"/>
      </a:lt2>
      <a:accent1>
        <a:srgbClr val="7CCA62"/>
      </a:accent1>
      <a:accent2>
        <a:srgbClr val="7CCA62"/>
      </a:accent2>
      <a:accent3>
        <a:srgbClr val="7CCA62"/>
      </a:accent3>
      <a:accent4>
        <a:srgbClr val="7CCA62"/>
      </a:accent4>
      <a:accent5>
        <a:srgbClr val="7CCA62"/>
      </a:accent5>
      <a:accent6>
        <a:srgbClr val="A5C249"/>
      </a:accent6>
      <a:hlink>
        <a:srgbClr val="7CCA62"/>
      </a:hlink>
      <a:folHlink>
        <a:srgbClr val="10CF9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302</Words>
  <Application>Microsoft Office PowerPoint</Application>
  <PresentationFormat>Grand écran</PresentationFormat>
  <Paragraphs>32</Paragraphs>
  <Slides>10</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Aharoni</vt:lpstr>
      <vt:lpstr>Arial</vt:lpstr>
      <vt:lpstr>Berlin Sans FB</vt:lpstr>
      <vt:lpstr>Calibri</vt:lpstr>
      <vt:lpstr>Calibri Light</vt:lpstr>
      <vt:lpstr>Trade Gothic Next Heavy</vt:lpstr>
      <vt:lpstr>Trebuchet MS</vt:lpstr>
      <vt:lpstr>Thème Office</vt:lpstr>
      <vt:lpstr>Atelier professionnel 2-BTS SIO</vt:lpstr>
      <vt:lpstr>Sommaire :</vt:lpstr>
      <vt:lpstr>I- Contexte</vt:lpstr>
      <vt:lpstr>II- Présentation de l’infrastructure d’M2L</vt:lpstr>
      <vt:lpstr>Les solutions K3r-Tech !</vt:lpstr>
      <vt:lpstr>1ère solution </vt:lpstr>
      <vt:lpstr>2ème solution </vt:lpstr>
      <vt:lpstr>1ère solution </vt:lpstr>
      <vt:lpstr>2ème solution </vt:lpstr>
      <vt:lpstr>L’équipe K3r-Tech vous remercies pour votre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Atelier professionnel 2</dc:title>
  <dc:creator>Alexandre DENIS</dc:creator>
  <cp:lastModifiedBy>Alexandre DENIS</cp:lastModifiedBy>
  <cp:revision>5</cp:revision>
  <dcterms:created xsi:type="dcterms:W3CDTF">2023-04-30T20:09:27Z</dcterms:created>
  <dcterms:modified xsi:type="dcterms:W3CDTF">2023-05-01T21:54:27Z</dcterms:modified>
</cp:coreProperties>
</file>